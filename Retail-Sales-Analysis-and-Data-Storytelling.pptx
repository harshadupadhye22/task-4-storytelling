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Poppins Light" panose="00000400000000000000" pitchFamily="2" charset="0"/>
      <p:regular r:id="rId13"/>
    </p:embeddedFont>
    <p:embeddedFont>
      <p:font typeface="Roboto Light" panose="020000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-1142" y="-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261154855643043"/>
          <c:y val="5.8531249999999993E-2"/>
          <c:w val="0.81773736876640424"/>
          <c:h val="0.69406028543307086"/>
        </c:manualLayout>
      </c:layout>
      <c:barChart>
        <c:barDir val="bar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501375"/>
        <c:axId val="189498975"/>
      </c:barChart>
      <c:catAx>
        <c:axId val="18950137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498975"/>
        <c:crosses val="autoZero"/>
        <c:auto val="1"/>
        <c:lblAlgn val="ctr"/>
        <c:lblOffset val="100"/>
        <c:noMultiLvlLbl val="0"/>
      </c:catAx>
      <c:valAx>
        <c:axId val="18949897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501375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19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chart" Target="../charts/chart1.xml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9612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Retail Sales Analysis &amp; Data Storytelling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94695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Data Analytics Internship Project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682407" y="3180978"/>
            <a:ext cx="1208187" cy="266402"/>
          </a:xfrm>
          <a:prstGeom prst="roundRect">
            <a:avLst>
              <a:gd name="adj" fmla="val 17880"/>
            </a:avLst>
          </a:prstGeom>
          <a:solidFill>
            <a:srgbClr val="252528"/>
          </a:solidFill>
          <a:ln/>
        </p:spPr>
      </p:sp>
      <p:sp>
        <p:nvSpPr>
          <p:cNvPr id="6" name="Text 3"/>
          <p:cNvSpPr/>
          <p:nvPr/>
        </p:nvSpPr>
        <p:spPr>
          <a:xfrm>
            <a:off x="5767462" y="3223468"/>
            <a:ext cx="103807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HARSHAD UPADHYE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1901" y="384944"/>
            <a:ext cx="3378026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Project Overview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3901901" y="1129159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3901901" y="1469008"/>
            <a:ext cx="2219771" cy="105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Analyse retail sales data to uncover actionable business insights, identify performance trends, and support strategic decision-making across categories, regions, and time periods.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456090" y="1145307"/>
            <a:ext cx="2219771" cy="1070297"/>
          </a:xfrm>
          <a:prstGeom prst="roundRect">
            <a:avLst>
              <a:gd name="adj" fmla="val 8543"/>
            </a:avLst>
          </a:prstGeom>
          <a:solidFill>
            <a:srgbClr val="050505"/>
          </a:solidFill>
          <a:ln w="19050">
            <a:solidFill>
              <a:srgbClr val="56565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37040" y="1145307"/>
            <a:ext cx="76200" cy="1070297"/>
          </a:xfrm>
          <a:prstGeom prst="roundRect">
            <a:avLst>
              <a:gd name="adj" fmla="val 74477"/>
            </a:avLst>
          </a:prstGeom>
          <a:solidFill>
            <a:srgbClr val="F2F2F3"/>
          </a:solidFill>
          <a:ln/>
        </p:spPr>
      </p:sp>
      <p:sp>
        <p:nvSpPr>
          <p:cNvPr id="8" name="Text 5"/>
          <p:cNvSpPr/>
          <p:nvPr/>
        </p:nvSpPr>
        <p:spPr>
          <a:xfrm>
            <a:off x="6667351" y="1299418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Explore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67351" y="1639267"/>
            <a:ext cx="1854398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Identify patterns in sales, region, and category data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56090" y="2344341"/>
            <a:ext cx="2219771" cy="1070297"/>
          </a:xfrm>
          <a:prstGeom prst="roundRect">
            <a:avLst>
              <a:gd name="adj" fmla="val 8543"/>
            </a:avLst>
          </a:prstGeom>
          <a:solidFill>
            <a:srgbClr val="050505"/>
          </a:solidFill>
          <a:ln w="19050">
            <a:solidFill>
              <a:srgbClr val="56565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37040" y="2344341"/>
            <a:ext cx="76200" cy="1070297"/>
          </a:xfrm>
          <a:prstGeom prst="roundRect">
            <a:avLst>
              <a:gd name="adj" fmla="val 74477"/>
            </a:avLst>
          </a:prstGeom>
          <a:solidFill>
            <a:srgbClr val="F2F2F3"/>
          </a:solidFill>
          <a:ln/>
        </p:spPr>
      </p:sp>
      <p:sp>
        <p:nvSpPr>
          <p:cNvPr id="12" name="Text 9"/>
          <p:cNvSpPr/>
          <p:nvPr/>
        </p:nvSpPr>
        <p:spPr>
          <a:xfrm>
            <a:off x="6667351" y="2498452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Visualise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67351" y="2838301"/>
            <a:ext cx="1854398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Build an interactive Power BI dashboard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56090" y="3543374"/>
            <a:ext cx="2219771" cy="1070297"/>
          </a:xfrm>
          <a:prstGeom prst="roundRect">
            <a:avLst>
              <a:gd name="adj" fmla="val 8543"/>
            </a:avLst>
          </a:prstGeom>
          <a:solidFill>
            <a:srgbClr val="050505"/>
          </a:solidFill>
          <a:ln w="19050">
            <a:solidFill>
              <a:srgbClr val="56565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37040" y="3543374"/>
            <a:ext cx="76200" cy="1070297"/>
          </a:xfrm>
          <a:prstGeom prst="roundRect">
            <a:avLst>
              <a:gd name="adj" fmla="val 74477"/>
            </a:avLst>
          </a:prstGeom>
          <a:solidFill>
            <a:srgbClr val="F2F2F3"/>
          </a:solidFill>
          <a:ln/>
        </p:spPr>
      </p:sp>
      <p:sp>
        <p:nvSpPr>
          <p:cNvPr id="16" name="Text 13"/>
          <p:cNvSpPr/>
          <p:nvPr/>
        </p:nvSpPr>
        <p:spPr>
          <a:xfrm>
            <a:off x="6667351" y="3697486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Recommend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667351" y="4037335"/>
            <a:ext cx="1854398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Deliver data-driven business recommendations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374749"/>
            <a:ext cx="3211860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Dataset Overview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49610" y="1073274"/>
            <a:ext cx="4049613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3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9,994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671414" y="1648718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Total Rows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49610" y="1919213"/>
            <a:ext cx="404961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Retail transaction records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644703" y="1073274"/>
            <a:ext cx="4049688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3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16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866581" y="1648718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Columns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644703" y="1919213"/>
            <a:ext cx="40496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Features per record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9610" y="2289721"/>
            <a:ext cx="219104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Key Columns in the Dataset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9610" y="2664991"/>
            <a:ext cx="8244780" cy="2103686"/>
          </a:xfrm>
          <a:prstGeom prst="roundRect">
            <a:avLst>
              <a:gd name="adj" fmla="val 2565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2811" y="2744316"/>
            <a:ext cx="385836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Column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02820" y="2744316"/>
            <a:ext cx="385836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2811" y="3094137"/>
            <a:ext cx="385836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Order Date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2820" y="3094137"/>
            <a:ext cx="385836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Date of each transaction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2811" y="3443957"/>
            <a:ext cx="385836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Category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2820" y="3443957"/>
            <a:ext cx="385836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Product category (e.g., Technology)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2811" y="3793778"/>
            <a:ext cx="385836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Region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2820" y="3793778"/>
            <a:ext cx="385836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Geographic sales region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2811" y="4143598"/>
            <a:ext cx="385836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Quantity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2820" y="4143598"/>
            <a:ext cx="385836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Units sold per order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2811" y="4493419"/>
            <a:ext cx="385836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Sales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2820" y="4493419"/>
            <a:ext cx="385836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Revenue generated per order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26454"/>
            <a:ext cx="4092625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 Cleaning &amp; Preparation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98066" y="873547"/>
            <a:ext cx="794779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Raw data was systematically cleaned and enriched to ensure accuracy and analytical readiness before any exploratory analysis was performed.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08" y="1145753"/>
            <a:ext cx="7882235" cy="33990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1191" y="3900185"/>
            <a:ext cx="1788219" cy="223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Ready for Analysis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61191" y="3113369"/>
            <a:ext cx="1788219" cy="223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Engineer Columns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61191" y="2334500"/>
            <a:ext cx="1788219" cy="223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Standardise Dates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61191" y="1547684"/>
            <a:ext cx="2064772" cy="223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Remove Missing Values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8066" y="4649986"/>
            <a:ext cx="794779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Feature engineering added </a:t>
            </a:r>
            <a:r>
              <a:rPr lang="en-US" sz="9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Total Sales</a:t>
            </a: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</a:t>
            </a:r>
            <a:r>
              <a:rPr lang="en-US" sz="9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Year</a:t>
            </a: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and </a:t>
            </a:r>
            <a:r>
              <a:rPr lang="en-US" sz="9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Month</a:t>
            </a: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columns, enabling time-series analysis and aggregated insights across the dataset.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531" y="344760"/>
            <a:ext cx="219506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Exploratory Data Analysis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531" y="659160"/>
            <a:ext cx="2359000" cy="116941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232" y="702022"/>
            <a:ext cx="2359000" cy="112171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125319" y="988070"/>
            <a:ext cx="477515" cy="93464"/>
          </a:xfrm>
          <a:prstGeom prst="roundRect">
            <a:avLst>
              <a:gd name="adj" fmla="val 77045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10101"/>
            </a:solidFill>
            <a:prstDash val="solid"/>
          </a:ln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5754" y="1009055"/>
            <a:ext cx="51420" cy="514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269534" y="1001390"/>
            <a:ext cx="340370" cy="6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dirty="0">
                <a:solidFill>
                  <a:srgbClr val="E5E0D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West·31.58%</a:t>
            </a:r>
            <a:endParaRPr lang="en-US" sz="400" dirty="0"/>
          </a:p>
        </p:txBody>
      </p:sp>
      <p:sp>
        <p:nvSpPr>
          <p:cNvPr id="8" name="Text 3"/>
          <p:cNvSpPr/>
          <p:nvPr/>
        </p:nvSpPr>
        <p:spPr>
          <a:xfrm>
            <a:off x="6385173" y="1001390"/>
            <a:ext cx="224730" cy="6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dirty="0">
                <a:solidFill>
                  <a:srgbClr val="E5E0D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·31.58%</a:t>
            </a:r>
            <a:endParaRPr lang="en-US" sz="400" dirty="0"/>
          </a:p>
        </p:txBody>
      </p:sp>
      <p:sp>
        <p:nvSpPr>
          <p:cNvPr id="9" name="Text 4"/>
          <p:cNvSpPr/>
          <p:nvPr/>
        </p:nvSpPr>
        <p:spPr>
          <a:xfrm>
            <a:off x="6405711" y="1001390"/>
            <a:ext cx="14585" cy="6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dirty="0">
                <a:solidFill>
                  <a:srgbClr val="E5E0D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400" dirty="0"/>
          </a:p>
        </p:txBody>
      </p:sp>
      <p:sp>
        <p:nvSpPr>
          <p:cNvPr id="10" name="Shape 5"/>
          <p:cNvSpPr/>
          <p:nvPr/>
        </p:nvSpPr>
        <p:spPr>
          <a:xfrm>
            <a:off x="6125319" y="1119634"/>
            <a:ext cx="459209" cy="93464"/>
          </a:xfrm>
          <a:prstGeom prst="roundRect">
            <a:avLst>
              <a:gd name="adj" fmla="val 77045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10101"/>
            </a:solidFill>
            <a:prstDash val="solid"/>
          </a:ln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5754" y="1140619"/>
            <a:ext cx="51420" cy="514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269534" y="1132954"/>
            <a:ext cx="325115" cy="6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dirty="0">
                <a:solidFill>
                  <a:srgbClr val="E5E0D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East·29.55%</a:t>
            </a:r>
            <a:endParaRPr lang="en-US" sz="400" dirty="0"/>
          </a:p>
        </p:txBody>
      </p:sp>
      <p:sp>
        <p:nvSpPr>
          <p:cNvPr id="13" name="Text 7"/>
          <p:cNvSpPr/>
          <p:nvPr/>
        </p:nvSpPr>
        <p:spPr>
          <a:xfrm>
            <a:off x="6369918" y="1132954"/>
            <a:ext cx="224730" cy="6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dirty="0">
                <a:solidFill>
                  <a:srgbClr val="E5E0D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·29.55%</a:t>
            </a:r>
            <a:endParaRPr lang="en-US" sz="400" dirty="0"/>
          </a:p>
        </p:txBody>
      </p:sp>
      <p:sp>
        <p:nvSpPr>
          <p:cNvPr id="14" name="Text 8"/>
          <p:cNvSpPr/>
          <p:nvPr/>
        </p:nvSpPr>
        <p:spPr>
          <a:xfrm>
            <a:off x="6390456" y="1132954"/>
            <a:ext cx="14585" cy="6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dirty="0">
                <a:solidFill>
                  <a:srgbClr val="E5E0D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400" dirty="0"/>
          </a:p>
        </p:txBody>
      </p:sp>
      <p:sp>
        <p:nvSpPr>
          <p:cNvPr id="15" name="Shape 9"/>
          <p:cNvSpPr/>
          <p:nvPr/>
        </p:nvSpPr>
        <p:spPr>
          <a:xfrm>
            <a:off x="6125319" y="1251198"/>
            <a:ext cx="532730" cy="93464"/>
          </a:xfrm>
          <a:prstGeom prst="roundRect">
            <a:avLst>
              <a:gd name="adj" fmla="val 77045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10101"/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5754" y="1272183"/>
            <a:ext cx="51420" cy="514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269534" y="1264518"/>
            <a:ext cx="389706" cy="6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dirty="0">
                <a:solidFill>
                  <a:srgbClr val="E5E0D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Central·21.82%</a:t>
            </a:r>
            <a:endParaRPr lang="en-US" sz="400" dirty="0"/>
          </a:p>
        </p:txBody>
      </p:sp>
      <p:sp>
        <p:nvSpPr>
          <p:cNvPr id="18" name="Text 11"/>
          <p:cNvSpPr/>
          <p:nvPr/>
        </p:nvSpPr>
        <p:spPr>
          <a:xfrm>
            <a:off x="6434510" y="1264518"/>
            <a:ext cx="224730" cy="6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dirty="0">
                <a:solidFill>
                  <a:srgbClr val="E5E0D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·21.82%</a:t>
            </a:r>
            <a:endParaRPr lang="en-US" sz="400" dirty="0"/>
          </a:p>
        </p:txBody>
      </p:sp>
      <p:sp>
        <p:nvSpPr>
          <p:cNvPr id="19" name="Text 12"/>
          <p:cNvSpPr/>
          <p:nvPr/>
        </p:nvSpPr>
        <p:spPr>
          <a:xfrm>
            <a:off x="6455048" y="1264518"/>
            <a:ext cx="14585" cy="6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dirty="0">
                <a:solidFill>
                  <a:srgbClr val="E5E0D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400" dirty="0"/>
          </a:p>
        </p:txBody>
      </p:sp>
      <p:sp>
        <p:nvSpPr>
          <p:cNvPr id="20" name="Shape 13"/>
          <p:cNvSpPr/>
          <p:nvPr/>
        </p:nvSpPr>
        <p:spPr>
          <a:xfrm>
            <a:off x="6125319" y="1382762"/>
            <a:ext cx="499988" cy="93464"/>
          </a:xfrm>
          <a:prstGeom prst="roundRect">
            <a:avLst>
              <a:gd name="adj" fmla="val 77045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10101"/>
            </a:solidFill>
            <a:prstDash val="solid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5754" y="1403747"/>
            <a:ext cx="51420" cy="5142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269534" y="1396082"/>
            <a:ext cx="359346" cy="6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dirty="0">
                <a:solidFill>
                  <a:srgbClr val="E5E0D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South·17.05%</a:t>
            </a:r>
            <a:endParaRPr lang="en-US" sz="400" dirty="0"/>
          </a:p>
        </p:txBody>
      </p:sp>
      <p:sp>
        <p:nvSpPr>
          <p:cNvPr id="23" name="Text 15"/>
          <p:cNvSpPr/>
          <p:nvPr/>
        </p:nvSpPr>
        <p:spPr>
          <a:xfrm>
            <a:off x="6404149" y="1396082"/>
            <a:ext cx="224730" cy="6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dirty="0">
                <a:solidFill>
                  <a:srgbClr val="E5E0D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·17.05%</a:t>
            </a:r>
            <a:endParaRPr lang="en-US" sz="400" dirty="0"/>
          </a:p>
        </p:txBody>
      </p:sp>
      <p:sp>
        <p:nvSpPr>
          <p:cNvPr id="24" name="Text 16"/>
          <p:cNvSpPr/>
          <p:nvPr/>
        </p:nvSpPr>
        <p:spPr>
          <a:xfrm>
            <a:off x="6424687" y="1396082"/>
            <a:ext cx="14585" cy="6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dirty="0">
                <a:solidFill>
                  <a:srgbClr val="E5E0D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4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26531" y="2059781"/>
            <a:ext cx="4890939" cy="2309738"/>
          </a:xfrm>
          <a:prstGeom prst="rect">
            <a:avLst/>
          </a:prstGeom>
        </p:spPr>
      </p:pic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4F29750D-7673-EA74-C362-764B0117D3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4783475"/>
              </p:ext>
            </p:extLst>
          </p:nvPr>
        </p:nvGraphicFramePr>
        <p:xfrm>
          <a:off x="1524000" y="53975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0640" y="410542"/>
            <a:ext cx="3433390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Power BI Dashboard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80640" y="1107802"/>
            <a:ext cx="2293739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3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$2.3M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69144" y="1729308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Total Sales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940621" y="1107802"/>
            <a:ext cx="2293739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3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9,994</a:t>
            </a:r>
            <a:endParaRPr lang="en-US" sz="3550" dirty="0"/>
          </a:p>
        </p:txBody>
      </p:sp>
      <p:sp>
        <p:nvSpPr>
          <p:cNvPr id="7" name="Text 4"/>
          <p:cNvSpPr/>
          <p:nvPr/>
        </p:nvSpPr>
        <p:spPr>
          <a:xfrm>
            <a:off x="3229124" y="1729308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Total Orders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710630" y="2278484"/>
            <a:ext cx="2293739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3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$229</a:t>
            </a:r>
            <a:endParaRPr lang="en-US" sz="3550" dirty="0"/>
          </a:p>
        </p:txBody>
      </p:sp>
      <p:sp>
        <p:nvSpPr>
          <p:cNvPr id="9" name="Text 6"/>
          <p:cNvSpPr/>
          <p:nvPr/>
        </p:nvSpPr>
        <p:spPr>
          <a:xfrm>
            <a:off x="1999134" y="2899990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Avg. Sales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80640" y="3314030"/>
            <a:ext cx="173317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Dashboard Features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80640" y="3728070"/>
            <a:ext cx="4753719" cy="10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Interactive slicers by Region, Category, and Year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Dynamic filters for drill-down analysis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KPI cards with real-time metric updates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Trend lines and comparative bar charts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7401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Key Insights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243905"/>
            <a:ext cx="4004965" cy="1620217"/>
          </a:xfrm>
          <a:prstGeom prst="roundRect">
            <a:avLst>
              <a:gd name="adj" fmla="val 3675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2640" y="1390427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F2F2F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619" y="1507331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2640" y="195746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Technology Leads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263973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Technology category generated the highest sales across all product segments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42842" y="1243905"/>
            <a:ext cx="4005039" cy="1620217"/>
          </a:xfrm>
          <a:prstGeom prst="roundRect">
            <a:avLst>
              <a:gd name="adj" fmla="val 3675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89363" y="1390427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F2F2F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06342" y="1507331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89363" y="195746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West Dominates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789363" y="2263973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West region contributed the highest regional revenue share at ~31%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96119" y="3005882"/>
            <a:ext cx="4004965" cy="1620217"/>
          </a:xfrm>
          <a:prstGeom prst="roundRect">
            <a:avLst>
              <a:gd name="adj" fmla="val 3675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2640" y="3152403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F2F2F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619" y="3269307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2640" y="37194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Seasonal Peaks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42640" y="4025950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Sales surged in September, November, and December — clear seasonal patterns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42842" y="3005882"/>
            <a:ext cx="4005039" cy="1620217"/>
          </a:xfrm>
          <a:prstGeom prst="roundRect">
            <a:avLst>
              <a:gd name="adj" fmla="val 3675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89363" y="3152403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F2F2F3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6342" y="3269307"/>
            <a:ext cx="191319" cy="1913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89363" y="3719438"/>
            <a:ext cx="193245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Sub-Category Growth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789363" y="4025950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Top sub-categories like Phones, Chairs, and Binders drove major business volume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63737"/>
            <a:ext cx="357053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Statistical Validation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6108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Hypothesis Testing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124298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An independent samples </a:t>
            </a:r>
            <a:r>
              <a:rPr lang="en-US" sz="11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t-test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was conducted to evaluate whether the West region's sales performance is statistically distinguishable from other regions.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964210"/>
            <a:ext cx="3902943" cy="1056010"/>
          </a:xfrm>
          <a:prstGeom prst="roundRect">
            <a:avLst>
              <a:gd name="adj" fmla="val 5638"/>
            </a:avLst>
          </a:prstGeom>
          <a:solidFill>
            <a:srgbClr val="183A1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179266"/>
            <a:ext cx="177180" cy="1417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6816" y="3141390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Result:</a:t>
            </a:r>
            <a:r>
              <a:rPr lang="en-US" sz="11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p-value &lt; 0.05 — the null hypothesis is rejected. West region sales are statistically significantly higher.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49701" y="1778794"/>
            <a:ext cx="1880592" cy="2238821"/>
          </a:xfrm>
          <a:prstGeom prst="roundRect">
            <a:avLst>
              <a:gd name="adj" fmla="val 3166"/>
            </a:avLst>
          </a:prstGeom>
          <a:solidFill>
            <a:srgbClr val="050505"/>
          </a:solidFill>
          <a:ln w="19050">
            <a:solidFill>
              <a:srgbClr val="56565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68751" y="1797844"/>
            <a:ext cx="1842492" cy="425276"/>
          </a:xfrm>
          <a:prstGeom prst="roundRect">
            <a:avLst>
              <a:gd name="adj" fmla="val 8626"/>
            </a:avLst>
          </a:prstGeom>
          <a:solidFill>
            <a:srgbClr val="3D3D42"/>
          </a:solidFill>
          <a:ln/>
        </p:spPr>
      </p:sp>
      <p:sp>
        <p:nvSpPr>
          <p:cNvPr id="10" name="Text 7"/>
          <p:cNvSpPr/>
          <p:nvPr/>
        </p:nvSpPr>
        <p:spPr>
          <a:xfrm>
            <a:off x="5583659" y="1875160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4910510" y="2364879"/>
            <a:ext cx="155897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H₀ — Null Hypothesis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910510" y="2949550"/>
            <a:ext cx="155897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 significant difference exists in sales performance across regions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772052" y="1778794"/>
            <a:ext cx="1880592" cy="2238821"/>
          </a:xfrm>
          <a:prstGeom prst="roundRect">
            <a:avLst>
              <a:gd name="adj" fmla="val 3166"/>
            </a:avLst>
          </a:prstGeom>
          <a:solidFill>
            <a:srgbClr val="050505"/>
          </a:solidFill>
          <a:ln w="19050">
            <a:solidFill>
              <a:srgbClr val="5656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91102" y="1797844"/>
            <a:ext cx="1842492" cy="425276"/>
          </a:xfrm>
          <a:prstGeom prst="roundRect">
            <a:avLst>
              <a:gd name="adj" fmla="val 8626"/>
            </a:avLst>
          </a:prstGeom>
          <a:solidFill>
            <a:srgbClr val="3D3D42"/>
          </a:solidFill>
          <a:ln/>
        </p:spPr>
      </p:sp>
      <p:sp>
        <p:nvSpPr>
          <p:cNvPr id="15" name="Text 12"/>
          <p:cNvSpPr/>
          <p:nvPr/>
        </p:nvSpPr>
        <p:spPr>
          <a:xfrm>
            <a:off x="7606010" y="1875160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6932861" y="2364879"/>
            <a:ext cx="155897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H₁ — Alternate Hypothesis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932861" y="2949550"/>
            <a:ext cx="155897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West region has significantly higher sales than other regions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60847"/>
            <a:ext cx="496140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87351"/>
            <a:ext cx="1104900" cy="6828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647355"/>
            <a:ext cx="190500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Target High-Performing Regions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175322"/>
            <a:ext cx="190500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Increase marketing investment in the West and East regions to maximise revenue yield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1787351"/>
            <a:ext cx="1104900" cy="6828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647355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Promote Top Products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3175322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Prioritise Technology sub-categories like Phones and Accessories in promotional campaigns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1787351"/>
            <a:ext cx="1104900" cy="6828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647355"/>
            <a:ext cx="18538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Data-Driven Strategy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2953866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Embed Power BI dashboards into routine business reviews for continuous, evidence-based decisions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1787351"/>
            <a:ext cx="1104900" cy="6828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647355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Lift Underperforming Segments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3175322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Investigate and address low-performing categories through targeted promotions and inventory adjustments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85404" y="809253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Thank You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464841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Data analysis drives smarter decisions. EDA, dashboarding, and statistical storytelling together reveal the growth opportunities hidden within retail data.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304752"/>
            <a:ext cx="4722763" cy="1643211"/>
          </a:xfrm>
          <a:prstGeom prst="roundRect">
            <a:avLst>
              <a:gd name="adj" fmla="val 3624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0881" y="2309515"/>
            <a:ext cx="2356619" cy="816843"/>
          </a:xfrm>
          <a:prstGeom prst="roundRect">
            <a:avLst>
              <a:gd name="adj" fmla="val 7289"/>
            </a:avLst>
          </a:prstGeom>
          <a:solidFill>
            <a:srgbClr val="3D3D42"/>
          </a:solidFill>
          <a:ln/>
        </p:spPr>
      </p:sp>
      <p:sp>
        <p:nvSpPr>
          <p:cNvPr id="7" name="Text 4"/>
          <p:cNvSpPr/>
          <p:nvPr/>
        </p:nvSpPr>
        <p:spPr>
          <a:xfrm>
            <a:off x="793179" y="24512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Insights Delivered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2640" y="2757785"/>
            <a:ext cx="20731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EDA, statistics &amp; dashboards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857500" y="2309515"/>
            <a:ext cx="2356619" cy="816843"/>
          </a:xfrm>
          <a:prstGeom prst="rect">
            <a:avLst/>
          </a:prstGeom>
          <a:solidFill>
            <a:srgbClr val="3D3D42"/>
          </a:solidFill>
          <a:ln/>
        </p:spPr>
      </p:sp>
      <p:sp>
        <p:nvSpPr>
          <p:cNvPr id="10" name="Shape 7"/>
          <p:cNvSpPr/>
          <p:nvPr/>
        </p:nvSpPr>
        <p:spPr>
          <a:xfrm>
            <a:off x="2857499" y="2309515"/>
            <a:ext cx="45719" cy="1224966"/>
          </a:xfrm>
          <a:prstGeom prst="roundRect">
            <a:avLst>
              <a:gd name="adj" fmla="val 312558"/>
            </a:avLst>
          </a:prstGeom>
          <a:solidFill>
            <a:srgbClr val="56565B"/>
          </a:solidFill>
          <a:ln/>
        </p:spPr>
      </p:sp>
      <p:sp>
        <p:nvSpPr>
          <p:cNvPr id="11" name="Text 8"/>
          <p:cNvSpPr/>
          <p:nvPr/>
        </p:nvSpPr>
        <p:spPr>
          <a:xfrm>
            <a:off x="3149798" y="24512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Tools Used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999259" y="2757785"/>
            <a:ext cx="20731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Python · Power BI · Statistics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0881" y="3477777"/>
            <a:ext cx="4713238" cy="56704"/>
          </a:xfrm>
          <a:prstGeom prst="roundRect">
            <a:avLst>
              <a:gd name="adj" fmla="val 312558"/>
            </a:avLst>
          </a:prstGeom>
          <a:solidFill>
            <a:srgbClr val="56565B"/>
          </a:solidFill>
          <a:ln/>
        </p:spPr>
      </p:sp>
      <p:sp>
        <p:nvSpPr>
          <p:cNvPr id="15" name="Text 12"/>
          <p:cNvSpPr/>
          <p:nvPr/>
        </p:nvSpPr>
        <p:spPr>
          <a:xfrm>
            <a:off x="1971452" y="326811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42640" y="3574628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96119" y="4107433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Harshad Upadhye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· Data Analytics Internship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</TotalTime>
  <Words>499</Words>
  <Application>Microsoft Office PowerPoint</Application>
  <PresentationFormat>On-screen Show (16:9)</PresentationFormat>
  <Paragraphs>109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Poppins Light</vt:lpstr>
      <vt:lpstr>-apple-system, BlinkMacSystemFont, Segoe UI, Roboto, Helvetica Neue, Arial, sans-serif Medium</vt:lpstr>
      <vt:lpstr>Arial</vt:lpstr>
      <vt:lpstr>Roboto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harshad</dc:creator>
  <cp:lastModifiedBy>smit s</cp:lastModifiedBy>
  <cp:revision>2</cp:revision>
  <dcterms:created xsi:type="dcterms:W3CDTF">2026-05-09T18:28:20Z</dcterms:created>
  <dcterms:modified xsi:type="dcterms:W3CDTF">2026-05-09T18:43:17Z</dcterms:modified>
</cp:coreProperties>
</file>